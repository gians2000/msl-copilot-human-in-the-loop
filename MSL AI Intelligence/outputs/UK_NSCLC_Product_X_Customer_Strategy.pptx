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019ec296634dc8" /><Relationship Type="http://schemas.openxmlformats.org/officeDocument/2006/relationships/extended-properties" Target="/docProps/app.xml" Id="R3e533e4fae31447b" /><Relationship Type="http://schemas.openxmlformats.org/officeDocument/2006/relationships/officeDocument" Target="/ppt/presentation.xml" Id="Rceaba791ebf043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fd4723e05e4d98"/>
  </p:sldMasterIdLst>
  <p:notesMasterIdLst>
    <p:notesMasterId xmlns:r="http://schemas.openxmlformats.org/officeDocument/2006/relationships" r:id="Rf5c07ab465c54d73"/>
  </p:notesMasterIdLst>
  <p:sldIdLst>
    <p:sldId xmlns:r="http://schemas.openxmlformats.org/officeDocument/2006/relationships" id="256" r:id="R18b04df9a88b4eff"/>
    <p:sldId xmlns:r="http://schemas.openxmlformats.org/officeDocument/2006/relationships" id="257" r:id="Re7845f468c984d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72457ccccf457f" /><Relationship Type="http://schemas.openxmlformats.org/officeDocument/2006/relationships/slideMaster" Target="/ppt/slideMasters/slideMaster1.xml" Id="Rfcfd4723e05e4d98" /><Relationship Type="http://schemas.openxmlformats.org/officeDocument/2006/relationships/notesMaster" Target="/ppt/notesMasters/notesMaster1.xml" Id="Rf5c07ab465c54d73" /><Relationship Type="http://schemas.openxmlformats.org/officeDocument/2006/relationships/presProps" Target="/ppt/presProps.xml" Id="R0b1390163bca4dd5" /><Relationship Type="http://schemas.openxmlformats.org/officeDocument/2006/relationships/tableStyles" Target="/ppt/tableStyles.xml" Id="Rb6ef264738bf4e30" /><Relationship Type="http://schemas.openxmlformats.org/officeDocument/2006/relationships/slide" Target="/ppt/slides/slide1.xml" Id="R18b04df9a88b4eff" /><Relationship Type="http://schemas.openxmlformats.org/officeDocument/2006/relationships/slide" Target="/ppt/slides/slide2.xml" Id="Re7845f468c984d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2e009735b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53ef058cd4b73" /><Relationship Type="http://schemas.openxmlformats.org/officeDocument/2006/relationships/notesMaster" Target="/ppt/notesMasters/notesMaster1.xml" Id="R800afc13d20f4d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14dba19be451e" /><Relationship Type="http://schemas.openxmlformats.org/officeDocument/2006/relationships/notesMaster" Target="/ppt/notesMasters/notesMaster1.xml" Id="R21f830ea1c8c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a344e4c6646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2e8666b3c44bb" /><Relationship Type="http://schemas.openxmlformats.org/officeDocument/2006/relationships/slideLayout" Target="/ppt/slideLayouts/slideLayout1.xml" Id="R487ce48d74e6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7ce48d74e6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0c258682c4c24" /><Relationship Type="http://schemas.openxmlformats.org/officeDocument/2006/relationships/notesSlide" Target="/ppt/notesSlides/notesSlide1.xml" Id="R30a4702b05a64d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dba1ba4c24675" /><Relationship Type="http://schemas.openxmlformats.org/officeDocument/2006/relationships/notesSlide" Target="/ppt/notesSlides/notesSlide2.xml" Id="R9f673649d93a42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AEC16F9E-9937-4D7E-8816-A4EFB943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marker">
            <a:extLst xmlns:a="http://schemas.openxmlformats.org/drawingml/2006/main">
              <a:ext uri="{FF2B5EF4-FFF2-40B4-BE49-F238E27FC236}">
                <a16:creationId xmlns:a16="http://schemas.microsoft.com/office/drawing/2014/main" id="{854F5058-C5E5-40AB-8348-F467B5D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C7523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C7523A"/>
                </a:solidFill>
                <a:latin typeface="Aptos"/>
                <a:ea typeface="Aptos"/>
                <a:cs typeface="Aptos"/>
              </a:rPr>
              <a:t>TASK 4 - CUSTOMER TARGETING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F92260-81B7-4F33-9348-7D3C915A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Customer types and bespoke information offer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9D8E808-72FD-44AE-89F2-5D60575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56616B"/>
                </a:solidFill>
                <a:latin typeface="Aptos"/>
                <a:ea typeface="Aptos"/>
                <a:cs typeface="Aptos"/>
              </a:rPr>
              <a:t>Advanced NSCLC launch strategy for UK HCPs, decision makers, and non-promotional patient-facing support.</a:t>
            </a:r>
          </a:p>
        </p:txBody>
      </p:sp>
      <p:sp>
        <p:nvSpPr>
          <p:cNvPr id="5" name="scenario-pill-bg">
            <a:extLst xmlns:a="http://schemas.openxmlformats.org/drawingml/2006/main">
              <a:ext uri="{FF2B5EF4-FFF2-40B4-BE49-F238E27FC236}">
                <a16:creationId xmlns:a16="http://schemas.microsoft.com/office/drawing/2014/main" id="{17904D48-FD37-4244-A10B-61C72BB1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"/>
            <a:ext cx="24765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enario-pill-text">
            <a:extLst xmlns:a="http://schemas.openxmlformats.org/drawingml/2006/main">
              <a:ext uri="{FF2B5EF4-FFF2-40B4-BE49-F238E27FC236}">
                <a16:creationId xmlns:a16="http://schemas.microsoft.com/office/drawing/2014/main" id="{E899F199-F69D-4A5B-813F-A46A4294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7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Educational scenario - Product X</a:t>
            </a:r>
          </a:p>
        </p:txBody>
      </p:sp>
      <p:sp>
        <p:nvSpPr>
          <p:cNvPr id="7" name="assumption-strip">
            <a:extLst xmlns:a="http://schemas.openxmlformats.org/drawingml/2006/main">
              <a:ext uri="{FF2B5EF4-FFF2-40B4-BE49-F238E27FC236}">
                <a16:creationId xmlns:a16="http://schemas.microsoft.com/office/drawing/2014/main" id="{7ED8E563-064E-42AA-9976-83DE01C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text">
            <a:extLst xmlns:a="http://schemas.openxmlformats.org/drawingml/2006/main">
              <a:ext uri="{FF2B5EF4-FFF2-40B4-BE49-F238E27FC236}">
                <a16:creationId xmlns:a16="http://schemas.microsoft.com/office/drawing/2014/main" id="{20FF817B-EFFF-44A1-9CC5-444CF6FA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53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Assumption: Product X has a UK marketing authorisation. All product promotion is HCP/relevant decision-maker only, final-form certified, SmPC-aligned, and includes prescribing information plus AE reporting routes.</a:t>
            </a:r>
          </a:p>
        </p:txBody>
      </p:sp>
      <p:sp>
        <p:nvSpPr>
          <p:cNvPr id="9" name="table-header-0">
            <a:extLst xmlns:a="http://schemas.openxmlformats.org/drawingml/2006/main">
              <a:ext uri="{FF2B5EF4-FFF2-40B4-BE49-F238E27FC236}">
                <a16:creationId xmlns:a16="http://schemas.microsoft.com/office/drawing/2014/main" id="{C785097C-A332-4A4C-AF03-0C7342AA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2479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B5D5E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10" name="table-header-text-0">
            <a:extLst xmlns:a="http://schemas.openxmlformats.org/drawingml/2006/main">
              <a:ext uri="{FF2B5EF4-FFF2-40B4-BE49-F238E27FC236}">
                <a16:creationId xmlns:a16="http://schemas.microsoft.com/office/drawing/2014/main" id="{BE156118-AE60-43B2-9489-96ED69D4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383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type</a:t>
            </a:r>
          </a:p>
        </p:txBody>
      </p:sp>
      <p:sp>
        <p:nvSpPr>
          <p:cNvPr id="11" name="table-header-1">
            <a:extLst xmlns:a="http://schemas.openxmlformats.org/drawingml/2006/main">
              <a:ext uri="{FF2B5EF4-FFF2-40B4-BE49-F238E27FC236}">
                <a16:creationId xmlns:a16="http://schemas.microsoft.com/office/drawing/2014/main" id="{30CC1859-7485-4562-80BA-36F4A3AD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8115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5E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12" name="table-header-text-1">
            <a:extLst xmlns:a="http://schemas.openxmlformats.org/drawingml/2006/main">
              <a:ext uri="{FF2B5EF4-FFF2-40B4-BE49-F238E27FC236}">
                <a16:creationId xmlns:a16="http://schemas.microsoft.com/office/drawing/2014/main" id="{BB87343B-39A3-42DC-8BC1-5A8D0BE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383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they want to know</a:t>
            </a:r>
          </a:p>
        </p:txBody>
      </p:sp>
      <p:sp>
        <p:nvSpPr>
          <p:cNvPr id="13" name="table-header-2">
            <a:extLst xmlns:a="http://schemas.openxmlformats.org/drawingml/2006/main">
              <a:ext uri="{FF2B5EF4-FFF2-40B4-BE49-F238E27FC236}">
                <a16:creationId xmlns:a16="http://schemas.microsoft.com/office/drawing/2014/main" id="{921BD4C1-8616-42B4-9EFF-151A869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81150"/>
            <a:ext cx="470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5E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14" name="table-header-text-2">
            <a:extLst xmlns:a="http://schemas.openxmlformats.org/drawingml/2006/main">
              <a:ext uri="{FF2B5EF4-FFF2-40B4-BE49-F238E27FC236}">
                <a16:creationId xmlns:a16="http://schemas.microsoft.com/office/drawing/2014/main" id="{A2BABC64-CDA1-4864-B405-423D121A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383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Bespoke information package</a:t>
            </a:r>
          </a:p>
        </p:txBody>
      </p:sp>
      <p:sp>
        <p:nvSpPr>
          <p:cNvPr id="15" name="table-header-3">
            <a:extLst xmlns:a="http://schemas.openxmlformats.org/drawingml/2006/main">
              <a:ext uri="{FF2B5EF4-FFF2-40B4-BE49-F238E27FC236}">
                <a16:creationId xmlns:a16="http://schemas.microsoft.com/office/drawing/2014/main" id="{71DA0851-D7D8-4AFB-B67B-57311CC5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811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5E"/>
          </a:solidFill>
          <a:ln xmlns:a="http://schemas.openxmlformats.org/drawingml/2006/main" w="9525">
            <a:solidFill>
              <a:srgbClr val="F7F4EF"/>
            </a:solidFill>
            <a:prstDash val="solid"/>
          </a:ln>
        </p:spPr>
      </p:sp>
      <p:sp>
        <p:nvSpPr>
          <p:cNvPr id="16" name="table-header-text-3">
            <a:extLst xmlns:a="http://schemas.openxmlformats.org/drawingml/2006/main">
              <a:ext uri="{FF2B5EF4-FFF2-40B4-BE49-F238E27FC236}">
                <a16:creationId xmlns:a16="http://schemas.microsoft.com/office/drawing/2014/main" id="{345FBA9F-8528-4523-89FD-5D1BFFA9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ABPI/MHRA boundary</a:t>
            </a:r>
          </a:p>
        </p:txBody>
      </p:sp>
      <p:sp>
        <p:nvSpPr>
          <p:cNvPr id="17" name="row-0-cell-0">
            <a:extLst xmlns:a="http://schemas.openxmlformats.org/drawingml/2006/main">
              <a:ext uri="{FF2B5EF4-FFF2-40B4-BE49-F238E27FC236}">
                <a16:creationId xmlns:a16="http://schemas.microsoft.com/office/drawing/2014/main" id="{4D8F19D2-9845-4B5D-9EDE-815DC8C1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8" name="row-0-cell-1">
            <a:extLst xmlns:a="http://schemas.openxmlformats.org/drawingml/2006/main">
              <a:ext uri="{FF2B5EF4-FFF2-40B4-BE49-F238E27FC236}">
                <a16:creationId xmlns:a16="http://schemas.microsoft.com/office/drawing/2014/main" id="{A46B36F8-C6AB-491E-992C-090B9D0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8595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9" name="row-0-cell-2">
            <a:extLst xmlns:a="http://schemas.openxmlformats.org/drawingml/2006/main">
              <a:ext uri="{FF2B5EF4-FFF2-40B4-BE49-F238E27FC236}">
                <a16:creationId xmlns:a16="http://schemas.microsoft.com/office/drawing/2014/main" id="{4367D013-5D0E-4B61-94E1-496A103C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470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0" name="row-0-cell-3">
            <a:extLst xmlns:a="http://schemas.openxmlformats.org/drawingml/2006/main">
              <a:ext uri="{FF2B5EF4-FFF2-40B4-BE49-F238E27FC236}">
                <a16:creationId xmlns:a16="http://schemas.microsoft.com/office/drawing/2014/main" id="{A8756AE4-5406-4C24-BD59-ACF305ED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859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1" name="row-0-accent">
            <a:extLst xmlns:a="http://schemas.openxmlformats.org/drawingml/2006/main">
              <a:ext uri="{FF2B5EF4-FFF2-40B4-BE49-F238E27FC236}">
                <a16:creationId xmlns:a16="http://schemas.microsoft.com/office/drawing/2014/main" id="{1BBB7DA1-1244-4C8C-A380-E6D05F0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w-0-who">
            <a:extLst xmlns:a="http://schemas.openxmlformats.org/drawingml/2006/main">
              <a:ext uri="{FF2B5EF4-FFF2-40B4-BE49-F238E27FC236}">
                <a16:creationId xmlns:a16="http://schemas.microsoft.com/office/drawing/2014/main" id="{C17D5DED-BFBE-4996-99EA-C213D106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Specialty care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Thoracic oncology prescribers</a:t>
            </a:r>
          </a:p>
        </p:txBody>
      </p:sp>
      <p:sp>
        <p:nvSpPr>
          <p:cNvPr id="23" name="row-0-need">
            <a:extLst xmlns:a="http://schemas.openxmlformats.org/drawingml/2006/main">
              <a:ext uri="{FF2B5EF4-FFF2-40B4-BE49-F238E27FC236}">
                <a16:creationId xmlns:a16="http://schemas.microsoft.com/office/drawing/2014/main" id="{CD7303C6-DEA7-4DEE-9BBB-71D282F4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526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Licensed place in pathway; efficacy and safety in trial-like vs real-world patients; sequencing and biomarker fit.</a:t>
            </a:r>
          </a:p>
        </p:txBody>
      </p:sp>
      <p:sp>
        <p:nvSpPr>
          <p:cNvPr id="24" name="row-0-pack">
            <a:extLst xmlns:a="http://schemas.openxmlformats.org/drawingml/2006/main">
              <a:ext uri="{FF2B5EF4-FFF2-40B4-BE49-F238E27FC236}">
                <a16:creationId xmlns:a16="http://schemas.microsoft.com/office/drawing/2014/main" id="{FCF7715B-62AF-4EA1-8552-7A834F1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9526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Certified HCP detail aid; pivotal evidence summary with limitations; SmPC/PI; AE management algorithm; reprint pack with AE statement.</a:t>
            </a:r>
          </a:p>
        </p:txBody>
      </p:sp>
      <p:sp>
        <p:nvSpPr>
          <p:cNvPr id="25" name="row-0-guard">
            <a:extLst xmlns:a="http://schemas.openxmlformats.org/drawingml/2006/main">
              <a:ext uri="{FF2B5EF4-FFF2-40B4-BE49-F238E27FC236}">
                <a16:creationId xmlns:a16="http://schemas.microsoft.com/office/drawing/2014/main" id="{30E66669-39B5-4706-9FFA-6CC99C72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18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HCP/relevant DM only; MA/SmPC aligned.</a:t>
            </a:r>
          </a:p>
        </p:txBody>
      </p:sp>
      <p:sp>
        <p:nvSpPr>
          <p:cNvPr id="26" name="row-1-cell-0">
            <a:extLst xmlns:a="http://schemas.openxmlformats.org/drawingml/2006/main">
              <a:ext uri="{FF2B5EF4-FFF2-40B4-BE49-F238E27FC236}">
                <a16:creationId xmlns:a16="http://schemas.microsoft.com/office/drawing/2014/main" id="{1BDE7292-1734-4B8D-B352-52E64B1A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7" name="row-1-cell-1">
            <a:extLst xmlns:a="http://schemas.openxmlformats.org/drawingml/2006/main">
              <a:ext uri="{FF2B5EF4-FFF2-40B4-BE49-F238E27FC236}">
                <a16:creationId xmlns:a16="http://schemas.microsoft.com/office/drawing/2014/main" id="{BAB97038-31F5-4049-B48A-E38590E8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985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row-1-cell-2">
            <a:extLst xmlns:a="http://schemas.openxmlformats.org/drawingml/2006/main">
              <a:ext uri="{FF2B5EF4-FFF2-40B4-BE49-F238E27FC236}">
                <a16:creationId xmlns:a16="http://schemas.microsoft.com/office/drawing/2014/main" id="{31A5FAC5-4871-4ED2-AFF6-9DFD3509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470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9" name="row-1-cell-3">
            <a:extLst xmlns:a="http://schemas.openxmlformats.org/drawingml/2006/main">
              <a:ext uri="{FF2B5EF4-FFF2-40B4-BE49-F238E27FC236}">
                <a16:creationId xmlns:a16="http://schemas.microsoft.com/office/drawing/2014/main" id="{C2C57E44-B4C9-496A-A330-D19C0A71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98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0" name="row-1-accent">
            <a:extLst xmlns:a="http://schemas.openxmlformats.org/drawingml/2006/main">
              <a:ext uri="{FF2B5EF4-FFF2-40B4-BE49-F238E27FC236}">
                <a16:creationId xmlns:a16="http://schemas.microsoft.com/office/drawing/2014/main" id="{34641391-B2B6-40A2-8C97-27EFFC6F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ow-1-who">
            <a:extLst xmlns:a="http://schemas.openxmlformats.org/drawingml/2006/main">
              <a:ext uri="{FF2B5EF4-FFF2-40B4-BE49-F238E27FC236}">
                <a16:creationId xmlns:a16="http://schemas.microsoft.com/office/drawing/2014/main" id="{5542CAC5-8C5C-460F-A78D-C81EA9E0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Specialty care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Lung cancer CNS / nurse prescribers</a:t>
            </a:r>
          </a:p>
        </p:txBody>
      </p:sp>
      <p:sp>
        <p:nvSpPr>
          <p:cNvPr id="32" name="row-1-need">
            <a:extLst xmlns:a="http://schemas.openxmlformats.org/drawingml/2006/main">
              <a:ext uri="{FF2B5EF4-FFF2-40B4-BE49-F238E27FC236}">
                <a16:creationId xmlns:a16="http://schemas.microsoft.com/office/drawing/2014/main" id="{93CE037F-0DD1-4CB0-8BDA-3014B13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765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Monitoring burden, counselling points, adherence support, side-effect triage, and what patients may ask.</a:t>
            </a:r>
          </a:p>
        </p:txBody>
      </p:sp>
      <p:sp>
        <p:nvSpPr>
          <p:cNvPr id="33" name="row-1-pack">
            <a:extLst xmlns:a="http://schemas.openxmlformats.org/drawingml/2006/main">
              <a:ext uri="{FF2B5EF4-FFF2-40B4-BE49-F238E27FC236}">
                <a16:creationId xmlns:a16="http://schemas.microsoft.com/office/drawing/2014/main" id="{51B8D297-DF3E-49E8-BAA5-6494F54B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765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Nurse education module; prescribed-patient starter checklist; AE triage guide; administration and follow-up checklist.</a:t>
            </a:r>
          </a:p>
        </p:txBody>
      </p:sp>
      <p:sp>
        <p:nvSpPr>
          <p:cNvPr id="34" name="row-1-guard">
            <a:extLst xmlns:a="http://schemas.openxmlformats.org/drawingml/2006/main">
              <a:ext uri="{FF2B5EF4-FFF2-40B4-BE49-F238E27FC236}">
                <a16:creationId xmlns:a16="http://schemas.microsoft.com/office/drawing/2014/main" id="{598DC439-2CF8-42B3-A266-6786A3FD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765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18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Patient materials factual, non-promotional, audience-labelled.</a:t>
            </a:r>
          </a:p>
        </p:txBody>
      </p:sp>
      <p:sp>
        <p:nvSpPr>
          <p:cNvPr id="35" name="row-2-cell-0">
            <a:extLst xmlns:a="http://schemas.openxmlformats.org/drawingml/2006/main">
              <a:ext uri="{FF2B5EF4-FFF2-40B4-BE49-F238E27FC236}">
                <a16:creationId xmlns:a16="http://schemas.microsoft.com/office/drawing/2014/main" id="{90DA9A97-3126-4602-8315-D2A97C35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6" name="row-2-cell-1">
            <a:extLst xmlns:a="http://schemas.openxmlformats.org/drawingml/2006/main">
              <a:ext uri="{FF2B5EF4-FFF2-40B4-BE49-F238E27FC236}">
                <a16:creationId xmlns:a16="http://schemas.microsoft.com/office/drawing/2014/main" id="{7A4B6856-2ABE-4D63-BF19-A49A98F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7" name="row-2-cell-2">
            <a:extLst xmlns:a="http://schemas.openxmlformats.org/drawingml/2006/main">
              <a:ext uri="{FF2B5EF4-FFF2-40B4-BE49-F238E27FC236}">
                <a16:creationId xmlns:a16="http://schemas.microsoft.com/office/drawing/2014/main" id="{57E3A3F4-EC9F-46C9-8399-E8D0BF8E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470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8" name="row-2-cell-3">
            <a:extLst xmlns:a="http://schemas.openxmlformats.org/drawingml/2006/main">
              <a:ext uri="{FF2B5EF4-FFF2-40B4-BE49-F238E27FC236}">
                <a16:creationId xmlns:a16="http://schemas.microsoft.com/office/drawing/2014/main" id="{6DE5519C-1B7F-41C4-A64D-A178E70C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9" name="row-2-accent">
            <a:extLst xmlns:a="http://schemas.openxmlformats.org/drawingml/2006/main">
              <a:ext uri="{FF2B5EF4-FFF2-40B4-BE49-F238E27FC236}">
                <a16:creationId xmlns:a16="http://schemas.microsoft.com/office/drawing/2014/main" id="{3FBAB9AF-0D2C-40E2-9ADD-C27172DD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ow-2-who">
            <a:extLst xmlns:a="http://schemas.openxmlformats.org/drawingml/2006/main">
              <a:ext uri="{FF2B5EF4-FFF2-40B4-BE49-F238E27FC236}">
                <a16:creationId xmlns:a16="http://schemas.microsoft.com/office/drawing/2014/main" id="{220B21CF-0E5D-43E4-AD3B-4F2A4C35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Secondary care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Oncology pharmacists / formulary pharmacists</a:t>
            </a:r>
          </a:p>
        </p:txBody>
      </p:sp>
      <p:sp>
        <p:nvSpPr>
          <p:cNvPr id="41" name="row-2-need">
            <a:extLst xmlns:a="http://schemas.openxmlformats.org/drawingml/2006/main">
              <a:ext uri="{FF2B5EF4-FFF2-40B4-BE49-F238E27FC236}">
                <a16:creationId xmlns:a16="http://schemas.microsoft.com/office/drawing/2014/main" id="{528702AB-6E8B-4886-AA3E-C07B1C9E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004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Dosing, interactions, dose modifications, storage, SACT protocol fit, procurement, and budget impact.</a:t>
            </a:r>
          </a:p>
        </p:txBody>
      </p:sp>
      <p:sp>
        <p:nvSpPr>
          <p:cNvPr id="42" name="row-2-pack">
            <a:extLst xmlns:a="http://schemas.openxmlformats.org/drawingml/2006/main">
              <a:ext uri="{FF2B5EF4-FFF2-40B4-BE49-F238E27FC236}">
                <a16:creationId xmlns:a16="http://schemas.microsoft.com/office/drawing/2014/main" id="{F5239FB7-169B-4395-AFD9-B083D5C4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004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Formulary dossier; DDI and dose-adjustment quick guide; budget-impact model; pharmacy implementation checklist.</a:t>
            </a:r>
          </a:p>
        </p:txBody>
      </p:sp>
      <p:sp>
        <p:nvSpPr>
          <p:cNvPr id="43" name="row-2-guard">
            <a:extLst xmlns:a="http://schemas.openxmlformats.org/drawingml/2006/main">
              <a:ext uri="{FF2B5EF4-FFF2-40B4-BE49-F238E27FC236}">
                <a16:creationId xmlns:a16="http://schemas.microsoft.com/office/drawing/2014/main" id="{AD33BA7F-EE61-4577-B18F-4D68ABF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004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18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Economic claims substantiated and not exaggerated.</a:t>
            </a:r>
          </a:p>
        </p:txBody>
      </p:sp>
      <p:sp>
        <p:nvSpPr>
          <p:cNvPr id="44" name="row-3-cell-0">
            <a:extLst xmlns:a="http://schemas.openxmlformats.org/drawingml/2006/main">
              <a:ext uri="{FF2B5EF4-FFF2-40B4-BE49-F238E27FC236}">
                <a16:creationId xmlns:a16="http://schemas.microsoft.com/office/drawing/2014/main" id="{BC15320B-8940-44D9-9D32-C16E8BF4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5" name="row-3-cell-1">
            <a:extLst xmlns:a="http://schemas.openxmlformats.org/drawingml/2006/main">
              <a:ext uri="{FF2B5EF4-FFF2-40B4-BE49-F238E27FC236}">
                <a16:creationId xmlns:a16="http://schemas.microsoft.com/office/drawing/2014/main" id="{D84026AA-69EE-47C0-8B1B-270EB660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5765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6" name="row-3-cell-2">
            <a:extLst xmlns:a="http://schemas.openxmlformats.org/drawingml/2006/main">
              <a:ext uri="{FF2B5EF4-FFF2-40B4-BE49-F238E27FC236}">
                <a16:creationId xmlns:a16="http://schemas.microsoft.com/office/drawing/2014/main" id="{BE43D963-9409-4EB9-81EA-E5998A78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470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7" name="row-3-cell-3">
            <a:extLst xmlns:a="http://schemas.openxmlformats.org/drawingml/2006/main">
              <a:ext uri="{FF2B5EF4-FFF2-40B4-BE49-F238E27FC236}">
                <a16:creationId xmlns:a16="http://schemas.microsoft.com/office/drawing/2014/main" id="{DC449B26-4791-498C-8FBF-F3F824A3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8" name="row-3-accent">
            <a:extLst xmlns:a="http://schemas.openxmlformats.org/drawingml/2006/main">
              <a:ext uri="{FF2B5EF4-FFF2-40B4-BE49-F238E27FC236}">
                <a16:creationId xmlns:a16="http://schemas.microsoft.com/office/drawing/2014/main" id="{28AFAD25-3C4B-46E1-B3E3-5869A0E7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ow-3-who">
            <a:extLst xmlns:a="http://schemas.openxmlformats.org/drawingml/2006/main">
              <a:ext uri="{FF2B5EF4-FFF2-40B4-BE49-F238E27FC236}">
                <a16:creationId xmlns:a16="http://schemas.microsoft.com/office/drawing/2014/main" id="{BECB3ABE-2247-41FB-9C71-BA8F9292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Diagnostic pathway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MDT, pathology and biomarker leads</a:t>
            </a:r>
          </a:p>
        </p:txBody>
      </p:sp>
      <p:sp>
        <p:nvSpPr>
          <p:cNvPr id="50" name="row-3-need">
            <a:extLst xmlns:a="http://schemas.openxmlformats.org/drawingml/2006/main">
              <a:ext uri="{FF2B5EF4-FFF2-40B4-BE49-F238E27FC236}">
                <a16:creationId xmlns:a16="http://schemas.microsoft.com/office/drawing/2014/main" id="{0638C430-1A2E-4776-9911-993D3C9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243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Which patients need testing, tissue/liquid biopsy workflow, turnaround time, and MDT eligibility checks.</a:t>
            </a:r>
          </a:p>
        </p:txBody>
      </p:sp>
      <p:sp>
        <p:nvSpPr>
          <p:cNvPr id="51" name="row-3-pack">
            <a:extLst xmlns:a="http://schemas.openxmlformats.org/drawingml/2006/main">
              <a:ext uri="{FF2B5EF4-FFF2-40B4-BE49-F238E27FC236}">
                <a16:creationId xmlns:a16="http://schemas.microsoft.com/office/drawing/2014/main" id="{0333123C-345F-4FD4-B21F-CCBE0E5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243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Biomarker pathway map; eligibility checklist; sample-handling prompt; MDT discussion one-pager.</a:t>
            </a:r>
          </a:p>
        </p:txBody>
      </p:sp>
      <p:sp>
        <p:nvSpPr>
          <p:cNvPr id="52" name="row-3-guard">
            <a:extLst xmlns:a="http://schemas.openxmlformats.org/drawingml/2006/main">
              <a:ext uri="{FF2B5EF4-FFF2-40B4-BE49-F238E27FC236}">
                <a16:creationId xmlns:a16="http://schemas.microsoft.com/office/drawing/2014/main" id="{4CB191D2-4023-4C1C-899E-8DE98C3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243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18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Service support transparent; no inducement to prescribe.</a:t>
            </a:r>
          </a:p>
        </p:txBody>
      </p:sp>
      <p:sp>
        <p:nvSpPr>
          <p:cNvPr id="53" name="row-4-cell-0">
            <a:extLst xmlns:a="http://schemas.openxmlformats.org/drawingml/2006/main">
              <a:ext uri="{FF2B5EF4-FFF2-40B4-BE49-F238E27FC236}">
                <a16:creationId xmlns:a16="http://schemas.microsoft.com/office/drawing/2014/main" id="{45BC2B8E-167E-4C44-9BEF-9D097C38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4" name="row-4-cell-1">
            <a:extLst xmlns:a="http://schemas.openxmlformats.org/drawingml/2006/main">
              <a:ext uri="{FF2B5EF4-FFF2-40B4-BE49-F238E27FC236}">
                <a16:creationId xmlns:a16="http://schemas.microsoft.com/office/drawing/2014/main" id="{C4BC078D-384C-4E0B-B214-3C6EF5D8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8155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5" name="row-4-cell-2">
            <a:extLst xmlns:a="http://schemas.openxmlformats.org/drawingml/2006/main">
              <a:ext uri="{FF2B5EF4-FFF2-40B4-BE49-F238E27FC236}">
                <a16:creationId xmlns:a16="http://schemas.microsoft.com/office/drawing/2014/main" id="{F6CCCE98-DB1C-4421-8F2C-8BCE0C73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81550"/>
            <a:ext cx="470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6" name="row-4-cell-3">
            <a:extLst xmlns:a="http://schemas.openxmlformats.org/drawingml/2006/main">
              <a:ext uri="{FF2B5EF4-FFF2-40B4-BE49-F238E27FC236}">
                <a16:creationId xmlns:a16="http://schemas.microsoft.com/office/drawing/2014/main" id="{5F18B0A3-3C22-4648-BBAB-64FBD603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815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7" name="row-4-accent">
            <a:extLst xmlns:a="http://schemas.openxmlformats.org/drawingml/2006/main">
              <a:ext uri="{FF2B5EF4-FFF2-40B4-BE49-F238E27FC236}">
                <a16:creationId xmlns:a16="http://schemas.microsoft.com/office/drawing/2014/main" id="{97DC99C8-1C45-4994-8EF3-C6BD9966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ow-4-who">
            <a:extLst xmlns:a="http://schemas.openxmlformats.org/drawingml/2006/main">
              <a:ext uri="{FF2B5EF4-FFF2-40B4-BE49-F238E27FC236}">
                <a16:creationId xmlns:a16="http://schemas.microsoft.com/office/drawing/2014/main" id="{CEAC5782-E513-4114-A582-E89783EE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NHS decision makers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ICB, Trust formulary and medicines optimisation</a:t>
            </a:r>
          </a:p>
        </p:txBody>
      </p:sp>
      <p:sp>
        <p:nvSpPr>
          <p:cNvPr id="59" name="row-4-need">
            <a:extLst xmlns:a="http://schemas.openxmlformats.org/drawingml/2006/main">
              <a:ext uri="{FF2B5EF4-FFF2-40B4-BE49-F238E27FC236}">
                <a16:creationId xmlns:a16="http://schemas.microsoft.com/office/drawing/2014/main" id="{526FF574-8853-49F0-8DE4-91C1D8A1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482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NICE/HTA status, eligible population, pathway impact, implementation effort, and auditability.</a:t>
            </a:r>
          </a:p>
        </p:txBody>
      </p:sp>
      <p:sp>
        <p:nvSpPr>
          <p:cNvPr id="60" name="row-4-pack">
            <a:extLst xmlns:a="http://schemas.openxmlformats.org/drawingml/2006/main">
              <a:ext uri="{FF2B5EF4-FFF2-40B4-BE49-F238E27FC236}">
                <a16:creationId xmlns:a16="http://schemas.microsoft.com/office/drawing/2014/main" id="{57795295-40EC-40C3-AF22-4D3CA9C1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482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Value and implementation dossier; local pathway mapping workshop; readiness checklist; audit framework.</a:t>
            </a:r>
          </a:p>
        </p:txBody>
      </p:sp>
      <p:sp>
        <p:nvSpPr>
          <p:cNvPr id="61" name="row-4-guard">
            <a:extLst xmlns:a="http://schemas.openxmlformats.org/drawingml/2006/main">
              <a:ext uri="{FF2B5EF4-FFF2-40B4-BE49-F238E27FC236}">
                <a16:creationId xmlns:a16="http://schemas.microsoft.com/office/drawing/2014/main" id="{9380F138-1B30-405E-8E2E-E47E31FB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482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18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Relevant decision-maker materials certified/examined.</a:t>
            </a:r>
          </a:p>
        </p:txBody>
      </p:sp>
      <p:sp>
        <p:nvSpPr>
          <p:cNvPr id="62" name="row-5-cell-0">
            <a:extLst xmlns:a="http://schemas.openxmlformats.org/drawingml/2006/main">
              <a:ext uri="{FF2B5EF4-FFF2-40B4-BE49-F238E27FC236}">
                <a16:creationId xmlns:a16="http://schemas.microsoft.com/office/drawing/2014/main" id="{75C50AAA-5AC9-4A5D-B195-E1358CD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3" name="row-5-cell-1">
            <a:extLst xmlns:a="http://schemas.openxmlformats.org/drawingml/2006/main">
              <a:ext uri="{FF2B5EF4-FFF2-40B4-BE49-F238E27FC236}">
                <a16:creationId xmlns:a16="http://schemas.microsoft.com/office/drawing/2014/main" id="{FB3F0F5C-098C-4CDB-BC25-0315B84E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0545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4" name="row-5-cell-2">
            <a:extLst xmlns:a="http://schemas.openxmlformats.org/drawingml/2006/main">
              <a:ext uri="{FF2B5EF4-FFF2-40B4-BE49-F238E27FC236}">
                <a16:creationId xmlns:a16="http://schemas.microsoft.com/office/drawing/2014/main" id="{3BE20C4C-A01A-4993-9D28-45232453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05450"/>
            <a:ext cx="470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5" name="row-5-cell-3">
            <a:extLst xmlns:a="http://schemas.openxmlformats.org/drawingml/2006/main">
              <a:ext uri="{FF2B5EF4-FFF2-40B4-BE49-F238E27FC236}">
                <a16:creationId xmlns:a16="http://schemas.microsoft.com/office/drawing/2014/main" id="{A7EABE17-1A6E-4D57-AAC0-0703DA6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5054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6" name="row-5-accent">
            <a:extLst xmlns:a="http://schemas.openxmlformats.org/drawingml/2006/main">
              <a:ext uri="{FF2B5EF4-FFF2-40B4-BE49-F238E27FC236}">
                <a16:creationId xmlns:a16="http://schemas.microsoft.com/office/drawing/2014/main" id="{31ABBE17-05D8-4ED7-AE2C-9BB3B07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ow-5-who">
            <a:extLst xmlns:a="http://schemas.openxmlformats.org/drawingml/2006/main">
              <a:ext uri="{FF2B5EF4-FFF2-40B4-BE49-F238E27FC236}">
                <a16:creationId xmlns:a16="http://schemas.microsoft.com/office/drawing/2014/main" id="{B1836B8B-42C2-4418-87D9-018B0BA4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Public-facing support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0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3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Patient organisations and prescribed patients via HCPs</a:t>
            </a:r>
          </a:p>
        </p:txBody>
      </p:sp>
      <p:sp>
        <p:nvSpPr>
          <p:cNvPr id="68" name="row-5-need">
            <a:extLst xmlns:a="http://schemas.openxmlformats.org/drawingml/2006/main">
              <a:ext uri="{FF2B5EF4-FFF2-40B4-BE49-F238E27FC236}">
                <a16:creationId xmlns:a16="http://schemas.microsoft.com/office/drawing/2014/main" id="{F3DB9C75-F16C-4511-84F0-1673BDC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572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Disease understanding, questions for clinical teams, support after prescribing, and safety signposting.</a:t>
            </a:r>
          </a:p>
        </p:txBody>
      </p:sp>
      <p:sp>
        <p:nvSpPr>
          <p:cNvPr id="69" name="row-5-pack">
            <a:extLst xmlns:a="http://schemas.openxmlformats.org/drawingml/2006/main">
              <a:ext uri="{FF2B5EF4-FFF2-40B4-BE49-F238E27FC236}">
                <a16:creationId xmlns:a16="http://schemas.microsoft.com/office/drawing/2014/main" id="{4759EF07-D828-4D9F-91A4-EC6A08AD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5721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Non-branded disease awareness; NHS/charity signposting; prescribed-patient leaflet supplied via HCP; Yellow Card signpost.</a:t>
            </a:r>
          </a:p>
        </p:txBody>
      </p:sp>
      <p:sp>
        <p:nvSpPr>
          <p:cNvPr id="70" name="row-5-guard">
            <a:extLst xmlns:a="http://schemas.openxmlformats.org/drawingml/2006/main">
              <a:ext uri="{FF2B5EF4-FFF2-40B4-BE49-F238E27FC236}">
                <a16:creationId xmlns:a16="http://schemas.microsoft.com/office/drawing/2014/main" id="{2ACE572D-B5CB-4F36-8070-925B14A7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721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18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 POM advertising to public; no personal medical advice.</a:t>
            </a:r>
          </a:p>
        </p:txBody>
      </p:sp>
      <p:sp>
        <p:nvSpPr>
          <p:cNvPr id="7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D06FD84-C8E0-43D1-A2F6-55CA68E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45" b="0" i="0">
                <a:solidFill>
                  <a:srgbClr val="6B6257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6B6257"/>
                </a:solidFill>
                <a:latin typeface="Aptos"/>
                <a:ea typeface="Aptos"/>
                <a:cs typeface="Aptos"/>
              </a:rPr>
              <a:t>Sources: PMCPA 2024 ABPI Code Clauses 3, 6, 8, 12, 26; MHRA Blue Guide, GOV.UK page last updated 28 Mar 2025; Task 4 template PP-UNP-GBR-10114. Product X is hypothetical.</a:t>
            </a:r>
          </a:p>
        </p:txBody>
      </p:sp>
      <p:sp>
        <p:nvSpPr>
          <p:cNvPr id="72" name="page-num">
            <a:extLst xmlns:a="http://schemas.openxmlformats.org/drawingml/2006/main">
              <a:ext uri="{FF2B5EF4-FFF2-40B4-BE49-F238E27FC236}">
                <a16:creationId xmlns:a16="http://schemas.microsoft.com/office/drawing/2014/main" id="{0F842D7B-152E-48E1-A734-41F0B4E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6984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4E3A8C4B-6CD4-47FE-B064-0584B4CB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marker">
            <a:extLst xmlns:a="http://schemas.openxmlformats.org/drawingml/2006/main">
              <a:ext uri="{FF2B5EF4-FFF2-40B4-BE49-F238E27FC236}">
                <a16:creationId xmlns:a16="http://schemas.microsoft.com/office/drawing/2014/main" id="{0B9C5DD6-245E-415E-90F1-A75A2F9C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C7523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C7523A"/>
                </a:solidFill>
                <a:latin typeface="Aptos"/>
                <a:ea typeface="Aptos"/>
                <a:cs typeface="Aptos"/>
              </a:rPr>
              <a:t>TASK 4 - CONVERSATION STRATEGY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4F432B-7538-432F-B059-000E071B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Prescriber conversation model + success tracking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F80F0C2-5B4B-475F-ABA6-4DEFBE6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56616B"/>
                </a:solidFill>
                <a:latin typeface="Aptos"/>
                <a:ea typeface="Aptos"/>
                <a:cs typeface="Aptos"/>
              </a:rPr>
              <a:t>A needs-led, evidence-balanced field approach that measures readiness and appropriate access, not volume pressure.</a:t>
            </a:r>
          </a:p>
        </p:txBody>
      </p:sp>
      <p:sp>
        <p:nvSpPr>
          <p:cNvPr id="5" name="scenario-pill-bg">
            <a:extLst xmlns:a="http://schemas.openxmlformats.org/drawingml/2006/main">
              <a:ext uri="{FF2B5EF4-FFF2-40B4-BE49-F238E27FC236}">
                <a16:creationId xmlns:a16="http://schemas.microsoft.com/office/drawing/2014/main" id="{FDE274F4-604F-4CA9-B292-8F57687A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"/>
            <a:ext cx="24765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enario-pill-text">
            <a:extLst xmlns:a="http://schemas.openxmlformats.org/drawingml/2006/main">
              <a:ext uri="{FF2B5EF4-FFF2-40B4-BE49-F238E27FC236}">
                <a16:creationId xmlns:a16="http://schemas.microsoft.com/office/drawing/2014/main" id="{6BF14947-742E-4A8C-96A3-4812B54C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7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Educational scenario - Product X</a:t>
            </a:r>
          </a:p>
        </p:txBody>
      </p:sp>
      <p:sp>
        <p:nvSpPr>
          <p:cNvPr id="7" name="left-kicker">
            <a:extLst xmlns:a="http://schemas.openxmlformats.org/drawingml/2006/main">
              <a:ext uri="{FF2B5EF4-FFF2-40B4-BE49-F238E27FC236}">
                <a16:creationId xmlns:a16="http://schemas.microsoft.com/office/drawing/2014/main" id="{19C02799-A673-4863-85EF-6A89EEA4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Conversation pathway for prescribers</a:t>
            </a:r>
          </a:p>
        </p:txBody>
      </p:sp>
      <p:sp>
        <p:nvSpPr>
          <p:cNvPr id="8" name="right-kicker">
            <a:extLst xmlns:a="http://schemas.openxmlformats.org/drawingml/2006/main">
              <a:ext uri="{FF2B5EF4-FFF2-40B4-BE49-F238E27FC236}">
                <a16:creationId xmlns:a16="http://schemas.microsoft.com/office/drawing/2014/main" id="{9B4EC8ED-422F-4003-89AA-7DC114E0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8110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How success will be tracked</a:t>
            </a:r>
          </a:p>
        </p:txBody>
      </p:sp>
      <p:sp>
        <p:nvSpPr>
          <p:cNvPr id="9" name="step-1-card">
            <a:extLst xmlns:a="http://schemas.openxmlformats.org/drawingml/2006/main">
              <a:ext uri="{FF2B5EF4-FFF2-40B4-BE49-F238E27FC236}">
                <a16:creationId xmlns:a16="http://schemas.microsoft.com/office/drawing/2014/main" id="{29F2D51B-EF9E-4384-8DE6-753170C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666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0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A29B4105-6E22-4669-90C8-DB5351DD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D5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86555ECD-5E35-4BFB-AE1D-EE0AA702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586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0B5D5E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0B5D5E"/>
                </a:solidFill>
                <a:latin typeface="Aptos"/>
                <a:ea typeface="Aptos"/>
                <a:cs typeface="Aptos"/>
              </a:rPr>
              <a:t>Frame the visit</a:t>
            </a:r>
          </a:p>
        </p:txBody>
      </p:sp>
      <p:sp>
        <p:nvSpPr>
          <p:cNvPr id="12" name="step-1-body">
            <a:extLst xmlns:a="http://schemas.openxmlformats.org/drawingml/2006/main">
              <a:ext uri="{FF2B5EF4-FFF2-40B4-BE49-F238E27FC236}">
                <a16:creationId xmlns:a16="http://schemas.microsoft.com/office/drawing/2014/main" id="{2AE479E1-FE5E-4697-8F00-A34E998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71650"/>
            <a:ext cx="586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Confirm the customer is an HCP/relevant decision-maker. State role, purpose, licensed context, and that only certified materials will be used.</a:t>
            </a:r>
          </a:p>
        </p:txBody>
      </p:sp>
      <p:sp>
        <p:nvSpPr>
          <p:cNvPr id="13" name="step-2-card">
            <a:extLst xmlns:a="http://schemas.openxmlformats.org/drawingml/2006/main">
              <a:ext uri="{FF2B5EF4-FFF2-40B4-BE49-F238E27FC236}">
                <a16:creationId xmlns:a16="http://schemas.microsoft.com/office/drawing/2014/main" id="{3A90C9AB-91CB-4F9E-91C6-EDD853F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666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4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3C7DF3D6-1D6D-451B-9435-102BA9D8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B2E1017F-AD69-41D8-89DF-102FFA16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586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5E8C61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5E8C61"/>
                </a:solidFill>
                <a:latin typeface="Aptos"/>
                <a:ea typeface="Aptos"/>
                <a:cs typeface="Aptos"/>
              </a:rPr>
              <a:t>Discover before presenting</a:t>
            </a:r>
          </a:p>
        </p:txBody>
      </p:sp>
      <p:sp>
        <p:nvSpPr>
          <p:cNvPr id="16" name="step-2-body">
            <a:extLst xmlns:a="http://schemas.openxmlformats.org/drawingml/2006/main">
              <a:ext uri="{FF2B5EF4-FFF2-40B4-BE49-F238E27FC236}">
                <a16:creationId xmlns:a16="http://schemas.microsoft.com/office/drawing/2014/main" id="{29EF2FE9-F96F-4CA8-B93B-7EE78A56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86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Use who/what/where/why/when questions: Which advanced NSCLC patients are hardest to manage? Where do testing or MDT decisions delay care?</a:t>
            </a:r>
          </a:p>
        </p:txBody>
      </p:sp>
      <p:sp>
        <p:nvSpPr>
          <p:cNvPr id="17" name="step-3-card">
            <a:extLst xmlns:a="http://schemas.openxmlformats.org/drawingml/2006/main">
              <a:ext uri="{FF2B5EF4-FFF2-40B4-BE49-F238E27FC236}">
                <a16:creationId xmlns:a16="http://schemas.microsoft.com/office/drawing/2014/main" id="{2655DB72-90B8-4533-9901-668DAE72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666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8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AABEC64-F547-41FA-A621-AE5A77D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3CEF22AB-8A3E-4608-8390-2D15DEB9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586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D8A23A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D8A23A"/>
                </a:solidFill>
                <a:latin typeface="Aptos"/>
                <a:ea typeface="Aptos"/>
                <a:cs typeface="Aptos"/>
              </a:rPr>
              <a:t>Match the information package</a:t>
            </a:r>
          </a:p>
        </p:txBody>
      </p:sp>
      <p:sp>
        <p:nvSpPr>
          <p:cNvPr id="20" name="step-3-body">
            <a:extLst xmlns:a="http://schemas.openxmlformats.org/drawingml/2006/main">
              <a:ext uri="{FF2B5EF4-FFF2-40B4-BE49-F238E27FC236}">
                <a16:creationId xmlns:a16="http://schemas.microsoft.com/office/drawing/2014/main" id="{17FFCA77-797C-443E-966D-DA9BDC5D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586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Share only the package that answers the stated need: efficacy/safety, biomarker pathway, nurse support, pharmacy readiness, or access evidence.</a:t>
            </a:r>
          </a:p>
        </p:txBody>
      </p:sp>
      <p:sp>
        <p:nvSpPr>
          <p:cNvPr id="21" name="step-4-card">
            <a:extLst xmlns:a="http://schemas.openxmlformats.org/drawingml/2006/main">
              <a:ext uri="{FF2B5EF4-FFF2-40B4-BE49-F238E27FC236}">
                <a16:creationId xmlns:a16="http://schemas.microsoft.com/office/drawing/2014/main" id="{F05C3CBC-FDF1-4108-85B2-2C384D27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666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22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6FDECA14-D688-4048-A8ED-EC62E04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52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EC36FC34-D74B-4DD2-9776-CE8AA0C2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586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C7523A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C7523A"/>
                </a:solidFill>
                <a:latin typeface="Aptos"/>
                <a:ea typeface="Aptos"/>
                <a:cs typeface="Aptos"/>
              </a:rPr>
              <a:t>Close, record, and follow up</a:t>
            </a:r>
          </a:p>
        </p:txBody>
      </p:sp>
      <p:sp>
        <p:nvSpPr>
          <p:cNvPr id="24" name="step-4-body">
            <a:extLst xmlns:a="http://schemas.openxmlformats.org/drawingml/2006/main">
              <a:ext uri="{FF2B5EF4-FFF2-40B4-BE49-F238E27FC236}">
                <a16:creationId xmlns:a16="http://schemas.microsoft.com/office/drawing/2014/main" id="{5CCB033F-2AFB-432F-9EC9-C1D350D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586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85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Agree the next useful action: MDT education, formulary discussion, nurse/pharmacy training, or Medical Information follow-up. Log materials, needs, and AE/product complaints per SOP.</a:t>
            </a:r>
          </a:p>
        </p:txBody>
      </p:sp>
      <p:sp>
        <p:nvSpPr>
          <p:cNvPr id="25" name="metric-reach-card">
            <a:extLst xmlns:a="http://schemas.openxmlformats.org/drawingml/2006/main">
              <a:ext uri="{FF2B5EF4-FFF2-40B4-BE49-F238E27FC236}">
                <a16:creationId xmlns:a16="http://schemas.microsoft.com/office/drawing/2014/main" id="{F5162301-E363-45F0-A491-04B332B8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66850"/>
            <a:ext cx="19431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26" name="metric-reach-accent">
            <a:extLst xmlns:a="http://schemas.openxmlformats.org/drawingml/2006/main">
              <a:ext uri="{FF2B5EF4-FFF2-40B4-BE49-F238E27FC236}">
                <a16:creationId xmlns:a16="http://schemas.microsoft.com/office/drawing/2014/main" id="{E2AC18D0-63C2-4591-BC05-E2BF648C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668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etric-reach-title">
            <a:extLst xmlns:a="http://schemas.openxmlformats.org/drawingml/2006/main">
              <a:ext uri="{FF2B5EF4-FFF2-40B4-BE49-F238E27FC236}">
                <a16:creationId xmlns:a16="http://schemas.microsoft.com/office/drawing/2014/main" id="{B05654B4-55DF-4613-AA8E-17337BB5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71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20" b="1" i="0">
                <a:solidFill>
                  <a:srgbClr val="0B5D5E"/>
                </a:solidFill>
                <a:latin typeface="Aptos"/>
                <a:ea typeface="Aptos"/>
                <a:cs typeface="Aptos"/>
              </a:defRPr>
            </a:pPr>
            <a:r>
              <a:rPr sz="1020" b="1" i="0">
                <a:solidFill>
                  <a:srgbClr val="0B5D5E"/>
                </a:solidFill>
                <a:latin typeface="Aptos"/>
                <a:ea typeface="Aptos"/>
                <a:cs typeface="Aptos"/>
              </a:rPr>
              <a:t>Reach + insight quality</a:t>
            </a:r>
          </a:p>
        </p:txBody>
      </p:sp>
      <p:sp>
        <p:nvSpPr>
          <p:cNvPr id="28" name="metric-reach-body">
            <a:extLst xmlns:a="http://schemas.openxmlformats.org/drawingml/2006/main">
              <a:ext uri="{FF2B5EF4-FFF2-40B4-BE49-F238E27FC236}">
                <a16:creationId xmlns:a16="http://schemas.microsoft.com/office/drawing/2014/main" id="{219CCA35-9ECD-4D12-82BF-59007B8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171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Priority account coverage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Need captured in CRM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Follow-up completed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Common barriers tagged</a:t>
            </a:r>
          </a:p>
        </p:txBody>
      </p:sp>
      <p:sp>
        <p:nvSpPr>
          <p:cNvPr id="29" name="metric-capability-card">
            <a:extLst xmlns:a="http://schemas.openxmlformats.org/drawingml/2006/main">
              <a:ext uri="{FF2B5EF4-FFF2-40B4-BE49-F238E27FC236}">
                <a16:creationId xmlns:a16="http://schemas.microsoft.com/office/drawing/2014/main" id="{5457F900-A2C0-4335-8DED-3A0F182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66850"/>
            <a:ext cx="19431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7F0E3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30" name="metric-capability-accent">
            <a:extLst xmlns:a="http://schemas.openxmlformats.org/drawingml/2006/main">
              <a:ext uri="{FF2B5EF4-FFF2-40B4-BE49-F238E27FC236}">
                <a16:creationId xmlns:a16="http://schemas.microsoft.com/office/drawing/2014/main" id="{57EB8DB1-C7D4-49E5-AA88-267DC7D8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668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tric-capability-title">
            <a:extLst xmlns:a="http://schemas.openxmlformats.org/drawingml/2006/main">
              <a:ext uri="{FF2B5EF4-FFF2-40B4-BE49-F238E27FC236}">
                <a16:creationId xmlns:a16="http://schemas.microsoft.com/office/drawing/2014/main" id="{BC6589B9-0E89-4987-9DE8-DF3B964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71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20" b="1" i="0">
                <a:solidFill>
                  <a:srgbClr val="5E8C61"/>
                </a:solidFill>
                <a:latin typeface="Aptos"/>
                <a:ea typeface="Aptos"/>
                <a:cs typeface="Aptos"/>
              </a:defRPr>
            </a:pPr>
            <a:r>
              <a:rPr sz="1020" b="1" i="0">
                <a:solidFill>
                  <a:srgbClr val="5E8C61"/>
                </a:solidFill>
                <a:latin typeface="Aptos"/>
                <a:ea typeface="Aptos"/>
                <a:cs typeface="Aptos"/>
              </a:rPr>
              <a:t>Capability uplift</a:t>
            </a:r>
          </a:p>
        </p:txBody>
      </p:sp>
      <p:sp>
        <p:nvSpPr>
          <p:cNvPr id="32" name="metric-capability-body">
            <a:extLst xmlns:a="http://schemas.openxmlformats.org/drawingml/2006/main">
              <a:ext uri="{FF2B5EF4-FFF2-40B4-BE49-F238E27FC236}">
                <a16:creationId xmlns:a16="http://schemas.microsoft.com/office/drawing/2014/main" id="{EE465769-5BBC-47E9-9C4D-87732CD6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28800"/>
            <a:ext cx="171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HCP confidence pulse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Nurse/pharmacy readiness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Medical questions resolved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Training attendance quality</a:t>
            </a:r>
          </a:p>
        </p:txBody>
      </p:sp>
      <p:sp>
        <p:nvSpPr>
          <p:cNvPr id="33" name="metric-implementation-card">
            <a:extLst xmlns:a="http://schemas.openxmlformats.org/drawingml/2006/main">
              <a:ext uri="{FF2B5EF4-FFF2-40B4-BE49-F238E27FC236}">
                <a16:creationId xmlns:a16="http://schemas.microsoft.com/office/drawing/2014/main" id="{EFC12F2F-2F4F-4B30-B774-139AD707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9431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34" name="metric-implementation-accent">
            <a:extLst xmlns:a="http://schemas.openxmlformats.org/drawingml/2006/main">
              <a:ext uri="{FF2B5EF4-FFF2-40B4-BE49-F238E27FC236}">
                <a16:creationId xmlns:a16="http://schemas.microsoft.com/office/drawing/2014/main" id="{E4CFFCCE-784A-4990-AEFC-0B63C70A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etric-implementation-title">
            <a:extLst xmlns:a="http://schemas.openxmlformats.org/drawingml/2006/main">
              <a:ext uri="{FF2B5EF4-FFF2-40B4-BE49-F238E27FC236}">
                <a16:creationId xmlns:a16="http://schemas.microsoft.com/office/drawing/2014/main" id="{CA6C384E-72AF-43FE-BF67-0E5EE8C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95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20" b="1" i="0">
                <a:solidFill>
                  <a:srgbClr val="D8A23A"/>
                </a:solidFill>
                <a:latin typeface="Aptos"/>
                <a:ea typeface="Aptos"/>
                <a:cs typeface="Aptos"/>
              </a:defRPr>
            </a:pPr>
            <a:r>
              <a:rPr sz="1020" b="1" i="0">
                <a:solidFill>
                  <a:srgbClr val="D8A23A"/>
                </a:solidFill>
                <a:latin typeface="Aptos"/>
                <a:ea typeface="Aptos"/>
                <a:cs typeface="Aptos"/>
              </a:rPr>
              <a:t>Implementation readiness</a:t>
            </a:r>
          </a:p>
        </p:txBody>
      </p:sp>
      <p:sp>
        <p:nvSpPr>
          <p:cNvPr id="36" name="metric-implementation-body">
            <a:extLst xmlns:a="http://schemas.openxmlformats.org/drawingml/2006/main">
              <a:ext uri="{FF2B5EF4-FFF2-40B4-BE49-F238E27FC236}">
                <a16:creationId xmlns:a16="http://schemas.microsoft.com/office/drawing/2014/main" id="{2D770A8B-CE9D-456E-B31D-2F1A704A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52800"/>
            <a:ext cx="171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Local pathway status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Formulary/protocol progress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Biomarker TAT barriers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Stock and SACT readiness</a:t>
            </a:r>
          </a:p>
        </p:txBody>
      </p:sp>
      <p:sp>
        <p:nvSpPr>
          <p:cNvPr id="37" name="metric-compliance-card">
            <a:extLst xmlns:a="http://schemas.openxmlformats.org/drawingml/2006/main">
              <a:ext uri="{FF2B5EF4-FFF2-40B4-BE49-F238E27FC236}">
                <a16:creationId xmlns:a16="http://schemas.microsoft.com/office/drawing/2014/main" id="{521AF60A-CC7F-49D4-93D6-E596107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90850"/>
            <a:ext cx="19431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8DDD6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38" name="metric-compliance-accent">
            <a:extLst xmlns:a="http://schemas.openxmlformats.org/drawingml/2006/main">
              <a:ext uri="{FF2B5EF4-FFF2-40B4-BE49-F238E27FC236}">
                <a16:creationId xmlns:a16="http://schemas.microsoft.com/office/drawing/2014/main" id="{3FEDC74E-E272-4BA3-A77B-DFA764D9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908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ric-compliance-title">
            <a:extLst xmlns:a="http://schemas.openxmlformats.org/drawingml/2006/main">
              <a:ext uri="{FF2B5EF4-FFF2-40B4-BE49-F238E27FC236}">
                <a16:creationId xmlns:a16="http://schemas.microsoft.com/office/drawing/2014/main" id="{FB0A25EA-CC6D-4746-8B0E-9A8D634C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20" b="1" i="0">
                <a:solidFill>
                  <a:srgbClr val="C7523A"/>
                </a:solidFill>
                <a:latin typeface="Aptos"/>
                <a:ea typeface="Aptos"/>
                <a:cs typeface="Aptos"/>
              </a:defRPr>
            </a:pPr>
            <a:r>
              <a:rPr sz="1020" b="1" i="0">
                <a:solidFill>
                  <a:srgbClr val="C7523A"/>
                </a:solidFill>
                <a:latin typeface="Aptos"/>
                <a:ea typeface="Aptos"/>
                <a:cs typeface="Aptos"/>
              </a:rPr>
              <a:t>Compliance + safety</a:t>
            </a:r>
          </a:p>
        </p:txBody>
      </p:sp>
      <p:sp>
        <p:nvSpPr>
          <p:cNvPr id="40" name="metric-compliance-body">
            <a:extLst xmlns:a="http://schemas.openxmlformats.org/drawingml/2006/main">
              <a:ext uri="{FF2B5EF4-FFF2-40B4-BE49-F238E27FC236}">
                <a16:creationId xmlns:a16="http://schemas.microsoft.com/office/drawing/2014/main" id="{13F18FAC-A87B-43C2-9A38-B88849CE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52800"/>
            <a:ext cx="171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- 100% certified materials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PI and AE route included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AE/PC escalated per SOP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40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- 0 upheld Code breaches</a:t>
            </a:r>
          </a:p>
        </p:txBody>
      </p:sp>
      <p:sp>
        <p:nvSpPr>
          <p:cNvPr id="41" name="compliance-spine">
            <a:extLst xmlns:a="http://schemas.openxmlformats.org/drawingml/2006/main">
              <a:ext uri="{FF2B5EF4-FFF2-40B4-BE49-F238E27FC236}">
                <a16:creationId xmlns:a16="http://schemas.microsoft.com/office/drawing/2014/main" id="{D98A4BCA-9189-442D-A9DA-B1E7CFC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11163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42" name="compliance-title">
            <a:extLst xmlns:a="http://schemas.openxmlformats.org/drawingml/2006/main">
              <a:ext uri="{FF2B5EF4-FFF2-40B4-BE49-F238E27FC236}">
                <a16:creationId xmlns:a16="http://schemas.microsoft.com/office/drawing/2014/main" id="{65C3785B-360E-4569-9EC1-875FCE5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1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65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Compliance spine</a:t>
            </a:r>
          </a:p>
        </p:txBody>
      </p:sp>
      <p:sp>
        <p:nvSpPr>
          <p:cNvPr id="43" name="chip-0-bg">
            <a:extLst xmlns:a="http://schemas.openxmlformats.org/drawingml/2006/main">
              <a:ext uri="{FF2B5EF4-FFF2-40B4-BE49-F238E27FC236}">
                <a16:creationId xmlns:a16="http://schemas.microsoft.com/office/drawing/2014/main" id="{9D90CB19-0DC6-4855-BCCD-162F056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253365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hip-0-num-bg">
            <a:extLst xmlns:a="http://schemas.openxmlformats.org/drawingml/2006/main">
              <a:ext uri="{FF2B5EF4-FFF2-40B4-BE49-F238E27FC236}">
                <a16:creationId xmlns:a16="http://schemas.microsoft.com/office/drawing/2014/main" id="{8BF5D1B9-81BA-46D4-B811-B4053501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ip-0-num">
            <a:extLst xmlns:a="http://schemas.openxmlformats.org/drawingml/2006/main">
              <a:ext uri="{FF2B5EF4-FFF2-40B4-BE49-F238E27FC236}">
                <a16:creationId xmlns:a16="http://schemas.microsoft.com/office/drawing/2014/main" id="{7B10A7F5-954E-480D-87CA-549BA79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1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6" name="chip-0-text">
            <a:extLst xmlns:a="http://schemas.openxmlformats.org/drawingml/2006/main">
              <a:ext uri="{FF2B5EF4-FFF2-40B4-BE49-F238E27FC236}">
                <a16:creationId xmlns:a16="http://schemas.microsoft.com/office/drawing/2014/main" id="{371F9D61-E2F4-4148-BBFF-86B3B72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673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73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73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 pre-MA or off-label promotion; stay within SmPC and UK access context.</a:t>
            </a:r>
          </a:p>
        </p:txBody>
      </p:sp>
      <p:sp>
        <p:nvSpPr>
          <p:cNvPr id="47" name="chip-1-bg">
            <a:extLst xmlns:a="http://schemas.openxmlformats.org/drawingml/2006/main">
              <a:ext uri="{FF2B5EF4-FFF2-40B4-BE49-F238E27FC236}">
                <a16:creationId xmlns:a16="http://schemas.microsoft.com/office/drawing/2014/main" id="{2FDDAA8C-9C36-4B7B-8DE8-0918AA6C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600700"/>
            <a:ext cx="253365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hip-1-num-bg">
            <a:extLst xmlns:a="http://schemas.openxmlformats.org/drawingml/2006/main">
              <a:ext uri="{FF2B5EF4-FFF2-40B4-BE49-F238E27FC236}">
                <a16:creationId xmlns:a16="http://schemas.microsoft.com/office/drawing/2014/main" id="{4630F7B0-4395-4674-8074-099BF73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695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hip-1-num">
            <a:extLst xmlns:a="http://schemas.openxmlformats.org/drawingml/2006/main">
              <a:ext uri="{FF2B5EF4-FFF2-40B4-BE49-F238E27FC236}">
                <a16:creationId xmlns:a16="http://schemas.microsoft.com/office/drawing/2014/main" id="{1AAA234D-DB6E-4CAC-AB37-AD2E57F1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715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1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0" name="chip-1-text">
            <a:extLst xmlns:a="http://schemas.openxmlformats.org/drawingml/2006/main">
              <a:ext uri="{FF2B5EF4-FFF2-40B4-BE49-F238E27FC236}">
                <a16:creationId xmlns:a16="http://schemas.microsoft.com/office/drawing/2014/main" id="{8763A4C8-1BA1-47FE-BF3F-32A23A48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6673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73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73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Claims are accurate, balanced, fair, objective, substantiated, and current.</a:t>
            </a:r>
          </a:p>
        </p:txBody>
      </p:sp>
      <p:sp>
        <p:nvSpPr>
          <p:cNvPr id="51" name="chip-2-bg">
            <a:extLst xmlns:a="http://schemas.openxmlformats.org/drawingml/2006/main">
              <a:ext uri="{FF2B5EF4-FFF2-40B4-BE49-F238E27FC236}">
                <a16:creationId xmlns:a16="http://schemas.microsoft.com/office/drawing/2014/main" id="{82424210-A325-4D06-BD26-7D047725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253365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hip-2-num-bg">
            <a:extLst xmlns:a="http://schemas.openxmlformats.org/drawingml/2006/main">
              <a:ext uri="{FF2B5EF4-FFF2-40B4-BE49-F238E27FC236}">
                <a16:creationId xmlns:a16="http://schemas.microsoft.com/office/drawing/2014/main" id="{9C6D6EE3-74CE-4CF4-BAF4-298248B3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95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hip-2-num">
            <a:extLst xmlns:a="http://schemas.openxmlformats.org/drawingml/2006/main">
              <a:ext uri="{FF2B5EF4-FFF2-40B4-BE49-F238E27FC236}">
                <a16:creationId xmlns:a16="http://schemas.microsoft.com/office/drawing/2014/main" id="{4405B7BA-34A6-4E99-B712-6AE19933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15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1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4" name="chip-2-text">
            <a:extLst xmlns:a="http://schemas.openxmlformats.org/drawingml/2006/main">
              <a:ext uri="{FF2B5EF4-FFF2-40B4-BE49-F238E27FC236}">
                <a16:creationId xmlns:a16="http://schemas.microsoft.com/office/drawing/2014/main" id="{1C057A79-FA9C-4F45-AA2A-7653E7A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673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73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73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Promotional materials include PI and AE reporting statement; final form certified.</a:t>
            </a:r>
          </a:p>
        </p:txBody>
      </p:sp>
      <p:sp>
        <p:nvSpPr>
          <p:cNvPr id="55" name="chip-3-bg">
            <a:extLst xmlns:a="http://schemas.openxmlformats.org/drawingml/2006/main">
              <a:ext uri="{FF2B5EF4-FFF2-40B4-BE49-F238E27FC236}">
                <a16:creationId xmlns:a16="http://schemas.microsoft.com/office/drawing/2014/main" id="{EF24AA24-7688-46E8-876D-4704DA7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600700"/>
            <a:ext cx="253365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hip-3-num-bg">
            <a:extLst xmlns:a="http://schemas.openxmlformats.org/drawingml/2006/main">
              <a:ext uri="{FF2B5EF4-FFF2-40B4-BE49-F238E27FC236}">
                <a16:creationId xmlns:a16="http://schemas.microsoft.com/office/drawing/2014/main" id="{05C24B7A-237B-40AE-B29A-5CAE109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695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hip-3-num">
            <a:extLst xmlns:a="http://schemas.openxmlformats.org/drawingml/2006/main">
              <a:ext uri="{FF2B5EF4-FFF2-40B4-BE49-F238E27FC236}">
                <a16:creationId xmlns:a16="http://schemas.microsoft.com/office/drawing/2014/main" id="{0BC1E5B9-4348-4AEF-84EF-E0BCB766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715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1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8" name="chip-3-text">
            <a:extLst xmlns:a="http://schemas.openxmlformats.org/drawingml/2006/main">
              <a:ext uri="{FF2B5EF4-FFF2-40B4-BE49-F238E27FC236}">
                <a16:creationId xmlns:a16="http://schemas.microsoft.com/office/drawing/2014/main" id="{EA3A89CD-3D1B-4E00-A32F-0C225F8F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6673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73" b="0" i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73" b="0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Public/patient content is non-promotional and does not encourage requests for a POM.</a:t>
            </a:r>
          </a:p>
        </p:txBody>
      </p:sp>
      <p:sp>
        <p:nvSpPr>
          <p:cNvPr id="5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740FD9C-9B02-4BB8-B636-D5311326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14950"/>
            <a:ext cx="845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 i="1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810" b="0" i="1">
                <a:solidFill>
                  <a:srgbClr val="56616B"/>
                </a:solidFill>
                <a:latin typeface="Aptos"/>
                <a:ea typeface="Aptos"/>
                <a:cs typeface="Aptos"/>
              </a:rPr>
              <a:t>Program dashboard excludes prescribing-volume pressure as a primary KPI; uptake is interpreted only as appropriate, label-consistent access when supported by local governance.</a:t>
            </a:r>
          </a:p>
        </p:txBody>
      </p:sp>
      <p:sp>
        <p:nvSpPr>
          <p:cNvPr id="6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0237CC2-F7EF-4F92-B5C9-3A903AB4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45" b="0" i="0">
                <a:solidFill>
                  <a:srgbClr val="6B6257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6B6257"/>
                </a:solidFill>
                <a:latin typeface="Aptos"/>
                <a:ea typeface="Aptos"/>
                <a:cs typeface="Aptos"/>
              </a:rPr>
              <a:t>Sources: PMCPA 2024 ABPI Code Clauses 3, 6, 8, 12, 26; MHRA Blue Guide, GOV.UK page last updated 28 Mar 2025; Task 4 template PP-UNP-GBR-10114. Product X is hypothetical.</a:t>
            </a:r>
          </a:p>
        </p:txBody>
      </p:sp>
      <p:sp>
        <p:nvSpPr>
          <p:cNvPr id="61" name="page-num">
            <a:extLst xmlns:a="http://schemas.openxmlformats.org/drawingml/2006/main">
              <a:ext uri="{FF2B5EF4-FFF2-40B4-BE49-F238E27FC236}">
                <a16:creationId xmlns:a16="http://schemas.microsoft.com/office/drawing/2014/main" id="{1ABBE4DE-CE29-448F-9D83-D1B2E839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88284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2026-06-16T14:34:26.7780000Z</dcterms:created>
  <dcterms:modified xsi:type="dcterms:W3CDTF">2026-06-16T14:34:26.7780000Z</dcterms:modified>
</coreProperties>
</file>